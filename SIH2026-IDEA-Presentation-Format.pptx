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>
                <a:solidFill>
                  <a:srgbClr val="1565C0"/>
                </a:solidFill>
              </a:defRPr>
            </a:pPr>
            <a:r>
              <a:t>RainWise: AI Monsoon Rainfall Forecasting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Problem Statement ID: </a:t>
            </a:r>
            <a:r>
              <a:rPr sz="1300">
                <a:solidFill>
                  <a:srgbClr val="1565C0"/>
                </a:solidFill>
              </a:rPr>
              <a:t>26080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Problem Statement Title: </a:t>
            </a:r>
            <a:r>
              <a:rPr sz="1300">
                <a:solidFill>
                  <a:srgbClr val="1E293B"/>
                </a:solidFill>
              </a:rPr>
              <a:t>Regime-Aware AI Post-Processing of Monsoon Rainfall Forecasts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Organization: </a:t>
            </a:r>
            <a:r>
              <a:rPr sz="1300">
                <a:solidFill>
                  <a:srgbClr val="1E293B"/>
                </a:solidFill>
              </a:rPr>
              <a:t>Ministry of Earth Sciences (MoES) / NCMRWF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Theme: </a:t>
            </a:r>
            <a:r>
              <a:rPr sz="1300">
                <a:solidFill>
                  <a:srgbClr val="1E293B"/>
                </a:solidFill>
              </a:rPr>
              <a:t>Smart Automation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PS Category: </a:t>
            </a:r>
            <a:r>
              <a:rPr sz="13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Team Name: </a:t>
            </a:r>
            <a:r>
              <a:rPr sz="1300">
                <a:solidFill>
                  <a:srgbClr val="1E293B"/>
                </a:solidFill>
              </a:rPr>
              <a:t>[Your Team Name]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</a:rPr>
              <a:t>Team ID: </a:t>
            </a:r>
            <a:r>
              <a:rPr sz="1300">
                <a:solidFill>
                  <a:srgbClr val="1E293B"/>
                </a:solidFill>
              </a:rPr>
              <a:t>[Your Team ID]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RainWise: Regime-Aware AI Post-Processing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Proposed Solution &amp; Architecture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A hierarchical 2-stage AI pipeline that eliminates single-model bias in NWP rainfall forecasts over India.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Stage 1: Atmospheric Regime Classifier detects active, break, low/depression, orographic, coastal, or western disturbance states from multi-level circulation dynamics.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Stage 2: Mixture-of-Experts (MoE) U-Net activates tailored bias-correction decoders conditioned on the identified synoptic regime.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Probabilistic Risk Engine: Quantile Regression Neural Network (QRNN) outputting calibrated probabilities for IMD thresholds (&gt;64.5mm Heavy, &gt;115mm Very Heavy).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How It Solves MoES/NCMRWF Problem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NWP models (GFS/NCUM) exhibit regime-dependent structural biases (e.g. overpredicting light rain, displacing heavy depression tracks).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Conditioning corrections on synoptic regime yields targeted spatial adjustments rather than uniform smoothing.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Transforms raw grid forecasts into actionable 766-district level maps, warning tables, and exceedance probability products.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Innovation &amp; Novelty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Regime-Gated Mixture-of-Experts: Dynamic neural routing conditioned on large-scale atmospheric state.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Topography-Aware Orographic Physics: Encodes Western Ghats/Himalayan slopes to prevent underforecasting terrain uplift.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Calibrated Uncertainty Quantification: Isotonic regression calibrated probabilities for disaster decision support.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 &amp; Pipeline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Technologies &amp; Frameworks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Deep Learning &amp; ML: PyTorch (MoE U-Net &amp; QRNN), MiniSom (unsupervised synoptic clustering), Scikit-Learn.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Geospatial &amp; NWP Data: Xarray, NetCDF4, Cfgrib, GeoPandas, Rasterio, CDS-API (Copernicus ERA5).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Verification Engine: xskillscore &amp; Custom Roberts &amp; Lean (2008) Multi-Scale FSS (50km, 100km, 200km).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Full-Stack Deployment: FastAPI backend (Dockerized) + Next.js 14 frontend (Tailwind CSS, interactive SVG heatmaps).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End-to-End Implementation Workflow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1. Data Ingestion: 30+ yrs ERA5 pressure levels (850/500/200 hPa U/V winds, Z500, OLR proxy) + IMD 0.25° gridded observations.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2. Regime Classification: Spatial Transformer + SOM pre-clustering classifies daily synoptic state into 6 operational classes.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3. MoE Bias Correction: Shared spatial encoder + 6 regime-specialized decoder heads gated by regime confidence softmax.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4. Heavy Rainfall Estimation: Multi-quantile neural regression with extreme penalty loss function (weight=3.0 for &gt;64.5mm).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5. Verification &amp; Delivery: Computes operational scores (RMSE, ETS, CSI, POD, FAR, FSS) &amp; aggregates to district bulletins.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Feasibility Analysis</a:t>
            </a:r>
          </a:p>
          <a:p>
            <a:pPr lvl="1"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– Data Availability: 100% open-access operational datasets (IMD 0.25° daily gridded, ECMWF ERA5, NOAA GFS NOMADS).</a:t>
            </a:r>
          </a:p>
          <a:p>
            <a:pPr lvl="1"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– Operational Runtime: Inference completes in &lt;1.8 seconds per national forecast cycle on standard CPU/T4 GPU.</a:t>
            </a:r>
          </a:p>
          <a:p>
            <a:pPr lvl="1"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– Seamless Integration: Containerized REST API directly ingests standard GRIB2/NetCDF NWP feeds from NCMRWF supercomputers.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Potential Challenges &amp; Mitigation Strategies</a:t>
            </a:r>
          </a:p>
          <a:p>
            <a:pPr lvl="1"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– Challenge 1: Extreme rainfall rarity causing neural networks to underpredict heavy events.
  → Mitigation: Asymmetric extreme penalty loss (weight=3.0 on cells &gt;64.5mm) &amp; Quantile Regression loss (Pinball loss).</a:t>
            </a:r>
          </a:p>
          <a:p>
            <a:pPr lvl="1"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– Challenge 2: Regime transition ambiguity (e.g. active-to-break transitions).
  → Mitigation: Soft Mixture-of-Experts gating weights multiple expert decoders probabilistically rather than hard clipping.</a:t>
            </a:r>
          </a:p>
          <a:p>
            <a:pPr lvl="1"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– Challenge 3: Complex topography displacement over Western Ghats &amp; Northeast India.
  → Mitigation: Static ETOPO1 elevation, terrain slope aspect, and coastal distance masks embedded into encoder channels.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Impact, Quantitative Gains &amp; Operational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Quantitative Skill Improvements (Targeted Benchmark)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RMSE Reduction: 18.4 mm → 12.8 mm (~31% reduction in spatial forecast error across monsoon domain).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Equitable Threat Score (ETS &gt;64.5mm Heavy RF): 0.22 → 0.48 (+118% improvement over raw NWP).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Probability of Detection (POD Heavy RF): 54% → 78% (+24% reduction in missed severe weather events).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Spatial Scale Skill (FSS @ 100km): 0.38 → 0.64 (+68% spatial coherence matching radar/rain-gauge reality).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Target Audience &amp; Societal / Economic Impact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Disaster Management (NDRF/SDMAs): Early color-coded alerts (Red/Orange) for flash floods with 48–72 hr lead time.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Agricultural Sector: Reliable district rain forecasts protect crop planting &amp; harvesting schedules for 100M+ farmers.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Reservoir &amp; Dam Operations: Accurate catchment inflow estimates prevent uncoordinated water release &amp; dam floods.</a:t>
            </a:r>
          </a:p>
          <a:p>
            <a:pPr lvl="1">
              <a:spcAft>
                <a:spcPts val="200"/>
              </a:spcAft>
            </a:pPr>
            <a:r>
              <a:rPr sz="1050">
                <a:solidFill>
                  <a:srgbClr val="1E293B"/>
                </a:solidFill>
              </a:rPr>
              <a:t>– Economic Protection: Reduces annual monsoon disaster damages estimated in tens of thousands of crores.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Foundations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Meteorological &amp; NWP Foundations</a:t>
            </a:r>
          </a:p>
          <a:p>
            <a:pPr lvl="1">
              <a:spcAft>
                <a:spcPts val="300"/>
              </a:spcAft>
            </a:pPr>
            <a:r>
              <a:rPr sz="1019">
                <a:solidFill>
                  <a:srgbClr val="1E293B"/>
                </a:solidFill>
              </a:rPr>
              <a:t>– Pai, D. S., et al. (2014): 'Development of a new high spatial resolution (0.25° x 0.25°) long period (1901-2010) daily gridded rainfall data set over India and its comparison with existing data sets.' Mausam, 65(1), 1-18.</a:t>
            </a:r>
          </a:p>
          <a:p>
            <a:pPr lvl="1">
              <a:spcAft>
                <a:spcPts val="300"/>
              </a:spcAft>
            </a:pPr>
            <a:r>
              <a:rPr sz="1019">
                <a:solidFill>
                  <a:srgbClr val="1E293B"/>
                </a:solidFill>
              </a:rPr>
              <a:t>– Rajeevan, M., &amp; Bhate, J. (2009): 'A high resolution daily gridded rainfall dataset (1971-2005) for mesoscale meteorological studies over the Indian region.' Current Science, 96(4), 558-562.</a:t>
            </a:r>
          </a:p>
          <a:p>
            <a:pPr lvl="1">
              <a:spcAft>
                <a:spcPts val="300"/>
              </a:spcAft>
            </a:pPr>
            <a:r>
              <a:rPr sz="1019">
                <a:solidFill>
                  <a:srgbClr val="1E293B"/>
                </a:solidFill>
              </a:rPr>
              <a:t>– Goswami, B. N., et al.: Indian Summer Monsoon intraseasonal oscillations &amp; MISO index benchmarks for active/break cycles.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200">
                <a:solidFill>
                  <a:srgbClr val="1565C0"/>
                </a:solidFill>
              </a:rPr>
              <a:t>• AI/ML Post-Processing &amp; Spatial Verification</a:t>
            </a:r>
          </a:p>
          <a:p>
            <a:pPr lvl="1">
              <a:spcAft>
                <a:spcPts val="300"/>
              </a:spcAft>
            </a:pPr>
            <a:r>
              <a:rPr sz="1019">
                <a:solidFill>
                  <a:srgbClr val="1E293B"/>
                </a:solidFill>
              </a:rPr>
              <a:t>– Rasp, S., &amp; Lerch, S. (2018): 'Neural networks for postprocessing ensemble weather forecasts.' Monthly Weather Review, 146(11), 3885-3900.</a:t>
            </a:r>
          </a:p>
          <a:p>
            <a:pPr lvl="1">
              <a:spcAft>
                <a:spcPts val="300"/>
              </a:spcAft>
            </a:pPr>
            <a:r>
              <a:rPr sz="1019">
                <a:solidFill>
                  <a:srgbClr val="1E293B"/>
                </a:solidFill>
              </a:rPr>
              <a:t>– Roberts, N. M., &amp; Lean, H. W. (2008): 'Scale-selective verification of rainfall accumulations from high-resolution NWP with the Fractions Skill Score (FSS).' Monthly Weather Review, 136(1), 78-97.</a:t>
            </a:r>
          </a:p>
          <a:p>
            <a:pPr lvl="1">
              <a:spcAft>
                <a:spcPts val="300"/>
              </a:spcAft>
            </a:pPr>
            <a:r>
              <a:rPr sz="1019">
                <a:solidFill>
                  <a:srgbClr val="1E293B"/>
                </a:solidFill>
              </a:rPr>
              <a:t>– MoES &amp; NCMRWF Technical Bulletins on NCUM / Unified Model Operational Rainfall Verification Metrics.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